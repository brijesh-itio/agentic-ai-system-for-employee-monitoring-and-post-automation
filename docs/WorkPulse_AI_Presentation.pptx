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0B142A"/>
                </a:solidFill>
                <a:latin typeface="Segoe UI"/>
              </a:rPr>
              <a:t>AGENTIC AI  ·  WORK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5F7FA"/>
                </a:solidFill>
                <a:latin typeface="Segoe UI"/>
              </a:rPr>
              <a:t>WorkPulse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A9B4C9"/>
                </a:solidFill>
                <a:latin typeface="Segoe UI"/>
              </a:rPr>
              <a:t>A full-stack agentic AI platform that tracks work, scores focus, writes daily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A9B4C9"/>
                </a:solidFill>
                <a:latin typeface="Segoe UI"/>
              </a:rPr>
              <a:t>reports, and runs business automation — with zero paid cloud AI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1280160" cy="31750"/>
          </a:xfrm>
          <a:prstGeom prst="rect">
            <a:avLst/>
          </a:prstGeom>
          <a:solidFill>
            <a:srgbClr val="6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Desktop Agent   ·   FastAPI + LangGraph Backend   ·   React Dashboard   ·   Local Ollama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Project Overview  |  Engineering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309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One system that watches, thinks, decides, and 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A9B4C9"/>
                </a:solidFill>
                <a:latin typeface="Segoe UI"/>
              </a:rPr>
              <a:t>WorkPulse AI is a full-stack, production-ready agentic AI business operating system — not a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A9B4C9"/>
                </a:solidFill>
                <a:latin typeface="Segoe UI"/>
              </a:rPr>
              <a:t>passive tracker that waits for someone to click a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611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Work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154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Automatic activity tracking, screenshots,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productivity scoring, and AI-written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Daily Activity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774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377440"/>
            <a:ext cx="3611880" cy="50800"/>
          </a:xfrm>
          <a:prstGeom prst="rect">
            <a:avLst/>
          </a:prstGeom>
          <a:solidFill>
            <a:srgbClr val="6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Business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54680"/>
            <a:ext cx="3154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LinkedIn posting, email campaigns,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and lead generation — running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autonomously, on schedule.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3774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377440"/>
            <a:ext cx="361188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Agentic AI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54680"/>
            <a:ext cx="3154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A LangGraph Master Agent that plans,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delegates to sub-agents, monitors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results, and reports every 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5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046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DD4BF"/>
                </a:solidFill>
                <a:latin typeface="Segoe UI"/>
              </a:rPr>
              <a:t>“The system does not wait for button clicks. It watches, thinks, decides, and acts — every feature runs</a:t>
            </a: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DD4BF"/>
                </a:solidFill>
                <a:latin typeface="Segoe UI"/>
              </a:rPr>
              <a:t>autonomously unless a human decision is genuinely required.”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Three independent pieces, one shared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0800" cy="15544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Desktop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agent/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Packaged as WorkPulseAgent.exe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per employee. Tray icon, autostart.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0020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600200"/>
            <a:ext cx="50800" cy="1554480"/>
          </a:xfrm>
          <a:prstGeom prst="rect">
            <a:avLst/>
          </a:prstGeom>
          <a:solidFill>
            <a:srgbClr val="6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7647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167128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api/ · ai/ · automation/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Auth, activity, reports, team mgmt,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LangGraph agent, automation.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60020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8472" y="1600200"/>
            <a:ext cx="50800" cy="1554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17647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React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167128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frontend/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Vite + TypeScript + TailwindCSS v4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Real-time + historical views.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21608" y="2286000"/>
            <a:ext cx="731520" cy="182880"/>
          </a:xfrm>
          <a:prstGeom prst="rightArrow">
            <a:avLst/>
          </a:prstGeom>
          <a:solidFill>
            <a:srgbClr val="A9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616952" y="2286000"/>
            <a:ext cx="731520" cy="182880"/>
          </a:xfrm>
          <a:prstGeom prst="rightArrow">
            <a:avLst/>
          </a:prstGeom>
          <a:solidFill>
            <a:srgbClr val="A9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A9B4C9"/>
                </a:solidFill>
                <a:latin typeface="Segoe UI"/>
              </a:rPr>
              <a:t>same SQLite database file, shared by all three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7490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85876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Local Ollama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2062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qwen3:1.7b · phi3:mini · nomic-embed-text</a:t>
            </a:r>
          </a:p>
        </p:txBody>
      </p:sp>
      <p:sp>
        <p:nvSpPr>
          <p:cNvPr id="26" name="Up Arrow 25"/>
          <p:cNvSpPr/>
          <p:nvPr/>
        </p:nvSpPr>
        <p:spPr>
          <a:xfrm rot="10800000">
            <a:off x="6035040" y="3429000"/>
            <a:ext cx="201168" cy="320040"/>
          </a:xfrm>
          <a:prstGeom prst="up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350">
                <a:solidFill>
                  <a:srgbClr val="F5F7FA"/>
                </a:solidFill>
                <a:latin typeface="Segoe UI"/>
              </a:rPr>
              <a:t>Agent tracks the active window, captures screenshots, detects idle time, and writes straight to SQLite — no network round-trip needed to log activity.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350">
                <a:solidFill>
                  <a:srgbClr val="F5F7FA"/>
                </a:solidFill>
                <a:latin typeface="Segoe UI"/>
              </a:rPr>
              <a:t>Backend never calls a paid cloud API — classification, DAR writing, and team analysis all run through local Ollama.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350">
                <a:solidFill>
                  <a:srgbClr val="F5F7FA"/>
                </a:solidFill>
                <a:latin typeface="Segoe UI"/>
              </a:rPr>
              <a:t>Dashboard talks to the backend over REST, giving employees and managers a real-time and historical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Fully local AI, modern web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64240" cy="4846320"/>
          </a:xfrm>
          <a:prstGeom prst="roundRect">
            <a:avLst>
              <a:gd name="adj" fmla="val 3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AI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91056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Ollama — qwen3:1.7b, phi3:mini, nomic-embed-text (fully local)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11064240" cy="484632"/>
          </a:xfrm>
          <a:prstGeom prst="rect">
            <a:avLst/>
          </a:prstGeom>
          <a:solidFill>
            <a:srgbClr val="16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75688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Agent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75688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LangGraph + LangChain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ChromaDB — classification memory,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62656"/>
            <a:ext cx="11064240" cy="484632"/>
          </a:xfrm>
          <a:prstGeom prst="rect">
            <a:avLst/>
          </a:prstGeom>
          <a:solidFill>
            <a:srgbClr val="16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44952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Desktop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044952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pywin32, psutil, Pillow, pystray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9584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Browser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29584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Playwright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11064240" cy="484632"/>
          </a:xfrm>
          <a:prstGeom prst="rect">
            <a:avLst/>
          </a:prstGeom>
          <a:solidFill>
            <a:srgbClr val="16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14216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14216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FastAPI, SQLAlchemy, Pydantic, python-jose (JWT), bcrypt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98848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498848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SQLite (local-first; PostgreSQL-compatible for cloud)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01184"/>
            <a:ext cx="11064240" cy="484632"/>
          </a:xfrm>
          <a:prstGeom prst="rect">
            <a:avLst/>
          </a:prstGeom>
          <a:solidFill>
            <a:srgbClr val="16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983480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Gmail SMTP via smtplib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68112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468112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React 19, Vite, TypeScript, TailwindCSS v4, TanStack Query, React Router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70448"/>
            <a:ext cx="11064240" cy="484632"/>
          </a:xfrm>
          <a:prstGeom prst="rect">
            <a:avLst/>
          </a:prstGeom>
          <a:solidFill>
            <a:srgbClr val="16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952744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Packaging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952744"/>
            <a:ext cx="795527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</a:rPr>
              <a:t>PyInstaller — desktop agent as a single .exe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FEATURE · WORK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Understand how work actually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Active window / app &amp; website tracking, idle detection, break classification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Automatic desktop screenshots, with blur-on-capture support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Live focus score, active hours, and context-switching analysis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AI-written Daily Activity Reports (DAR) — narrative and structured task-log views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CSV / DOCX / PDF export and CSV import for reports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Department-custom DAR templates with per-department custom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Segoe UI"/>
              </a:rPr>
              <a:t>Daily Activity Report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377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2491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94436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2918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51129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85876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07822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Generate 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425696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64515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Export /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77440"/>
            <a:ext cx="2286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Every step runs on local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Ollama models — activity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never leaves the machine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it's tracked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FEATURE · TEAM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Admin &amp; manager tools built on real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Per-member profile: live overview + timeline, screenshots, attendance calendar, and full DAR history — not just today's snapshot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Admin-controlled per-employee feature toggles (screenshot capture, activity tracking, DAR generation, alerts) that actually gate the employee's own desktop agent, not just the dashboard view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Role-based access control: employee (own data only), manager (team oversight), admin (full account control)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AI-powered weekly team analysis: high performers, struggling members, workload imbalance, burnout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34747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F7FA"/>
                </a:solidFill>
                <a:latin typeface="Segoe UI"/>
              </a:rP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Own data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2976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4297680"/>
            <a:ext cx="3474720" cy="50800"/>
          </a:xfrm>
          <a:prstGeom prst="rect">
            <a:avLst/>
          </a:prstGeom>
          <a:solidFill>
            <a:srgbClr val="6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F7FA"/>
                </a:solidFill>
                <a:latin typeface="Segoe UI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9834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Team oversight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42976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4297680"/>
            <a:ext cx="347472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526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F7FA"/>
                </a:solidFill>
                <a:latin typeface="Segoe U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9834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Full account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FEATURE · BUSINESS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Agentic, not button-driven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611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LinkedIn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3172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Content writing via local Ollama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Image sourcing: agentic FastSD CPU generation + Pexels fallback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Real browser posting via Playwright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50800"/>
          </a:xfrm>
          <a:prstGeom prst="rect">
            <a:avLst/>
          </a:prstGeom>
          <a:solidFill>
            <a:srgbClr val="6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Email Campaigns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3172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6D8BF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Personalised campaigns via Gmail SMTP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6D8BF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Local RAG grounds messaging in real context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6D8BFF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Delivery logging built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1188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Lead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Lead discovery + enrichment pipeline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Dedup and storage fully verified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›  </a:t>
            </a:r>
            <a:r>
              <a:rPr sz="1250">
                <a:solidFill>
                  <a:srgbClr val="F5F7FA"/>
                </a:solidFill>
                <a:latin typeface="Segoe UI"/>
              </a:rPr>
              <a:t>Honest about anti-bot limits (see slide 11)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FEATURE · AUTH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Real access control, not cosmetic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Email/password login with JWT + bcrypt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Optional “Sign in with Google” SSO — off by default, invite-only, matches an existing account by email, never auto-creates one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Full RBAC enforced on every Team route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Admin account controls and self-service password change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Per-user data scoping across every personal-data route: activity, screenshots, websites, productivity, reports, alerts, DAR entries, command,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0020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111D38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A623"/>
                </a:solidFill>
                <a:latin typeface="Segoe UI"/>
              </a:rPr>
              <a:t>Caught in the wild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A real bug was caught live: an employee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login could see another identity's data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across personal-data routes.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It was found and fixed the same day, then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verified end-to-end — not just patched and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5F7FA"/>
                </a:solidFill>
                <a:latin typeface="Segoe UI"/>
              </a:rPr>
              <a:t>assumed correct.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Zero paid cloud AI APIs,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9B4C9"/>
                </a:solidFill>
                <a:latin typeface="Segoe UI"/>
              </a:rPr>
              <a:t>The AI layer never calls a paid cloud API — no OpenAI, Anthropic, or Groq. All inference runs on local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9B4C9"/>
                </a:solidFill>
                <a:latin typeface="Segoe UI"/>
              </a:rPr>
              <a:t>Ollama models, so there's no per-token cost and no activity data ever leaves the machine it's tracked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What's 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$0 per-token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No metered AI billing — inference is free after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Data stays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Activity, screenshots, and reports never leave the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DE80"/>
                </a:solidFill>
                <a:latin typeface="Segoe UI"/>
              </a:rPr>
              <a:t>No IP whitelisting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No cloud vendor account or network allowlist to manage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06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D8BFF"/>
                </a:solidFill>
                <a:latin typeface="Segoe UI"/>
              </a:rPr>
              <a:t>The only outside integrations — all optional, all free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D8BFF"/>
                </a:solidFill>
                <a:latin typeface="Segoe UI"/>
              </a:rPr>
              <a:t>Gmail SMTP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for report emails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D8BFF"/>
                </a:solidFill>
                <a:latin typeface="Segoe UI"/>
              </a:rPr>
              <a:t>Playwright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for LinkedIn posting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12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D8BFF"/>
                </a:solidFill>
                <a:latin typeface="Segoe UI"/>
              </a:rPr>
              <a:t>Optional Google 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577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4C9"/>
                </a:solidFill>
                <a:latin typeface="Segoe UI"/>
              </a:rPr>
              <a:t>for login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24 planned modules + role-based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4ADE80"/>
                </a:solidFill>
                <a:latin typeface="Segoe U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Modules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727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5A623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48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Partial, by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727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A9B4C9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A9B4C9"/>
                </a:solidFill>
                <a:latin typeface="Segoe UI"/>
              </a:rPr>
              <a:t>Removed, by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88920"/>
            <a:ext cx="11064240" cy="841248"/>
          </a:xfrm>
          <a:prstGeom prst="roundRect">
            <a:avLst>
              <a:gd name="adj" fmla="val 5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01752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400" b="1">
                <a:solidFill>
                  <a:srgbClr val="0B142A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880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7FA"/>
                </a:solidFill>
                <a:latin typeface="Segoe UI"/>
              </a:rPr>
              <a:t>Core Tracking &amp;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095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D4BF"/>
                </a:solidFill>
                <a:latin typeface="Segoe UI"/>
              </a:rPr>
              <a:t>Modules 1–8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53512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App tracker, time intelligence, screenshots, browser tracker, FastAPI backend, productivity scorer, DAR generator, Gmail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21608"/>
            <a:ext cx="11064240" cy="841248"/>
          </a:xfrm>
          <a:prstGeom prst="roundRect">
            <a:avLst>
              <a:gd name="adj" fmla="val 5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950208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400" b="1">
                <a:solidFill>
                  <a:srgbClr val="0B142A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130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7FA"/>
                </a:solidFill>
                <a:latin typeface="Segoe UI"/>
              </a:rPr>
              <a:t>Dashboard &amp;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42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D4BF"/>
                </a:solidFill>
                <a:latin typeface="Segoe UI"/>
              </a:rPr>
              <a:t>Modules 9–14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88620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Dashboard core, timeline, analytics charts, screenshot gallery, DAR viewer/reports, smart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54296"/>
            <a:ext cx="11064240" cy="841248"/>
          </a:xfrm>
          <a:prstGeom prst="roundRect">
            <a:avLst>
              <a:gd name="adj" fmla="val 5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882896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400" b="1">
                <a:solidFill>
                  <a:srgbClr val="0B142A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4573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7FA"/>
                </a:solidFill>
                <a:latin typeface="Segoe UI"/>
              </a:rPr>
              <a:t>Agentic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74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D4BF"/>
                </a:solidFill>
                <a:latin typeface="Segoe UI"/>
              </a:rPr>
              <a:t>Modules 15–20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818888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LangGraph Master Agent, sub-agents, Command Mode, LinkedIn Playwright, email campaigns, lead research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86984"/>
            <a:ext cx="11064240" cy="841248"/>
          </a:xfrm>
          <a:prstGeom prst="roundRect">
            <a:avLst>
              <a:gd name="adj" fmla="val 5000"/>
            </a:avLst>
          </a:prstGeom>
          <a:solidFill>
            <a:srgbClr val="11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8155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400" b="1">
                <a:solidFill>
                  <a:srgbClr val="0B142A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784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7FA"/>
                </a:solidFill>
                <a:latin typeface="Segoe UI"/>
              </a:rPr>
              <a:t>Team, Packaging &amp;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60076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D4BF"/>
                </a:solidFill>
                <a:latin typeface="Segoe UI"/>
              </a:rPr>
              <a:t>Modules 21, 23–24 + RBAC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751576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9B4C9"/>
                </a:solidFill>
                <a:latin typeface="Segoe UI"/>
              </a:rPr>
              <a:t>Team intelligence dashboard, .exe packaging, Railway/Vercel cloud deploy, full login &amp; role-based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ENGINEERING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Verified live, and honest when something doesn't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450">
                <a:solidFill>
                  <a:srgbClr val="F5F7FA"/>
                </a:solidFill>
                <a:latin typeface="Segoe UI"/>
              </a:rPr>
              <a:t>RBAC data-leak bug: an employee login could see another identity's personal data — found live, fixed the same day, then verified end-to-end across every personal-data route.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450">
                <a:solidFill>
                  <a:srgbClr val="F5F7FA"/>
                </a:solidFill>
                <a:latin typeface="Segoe UI"/>
              </a:rPr>
              <a:t>Browser tracker hardened with an expanded known-site table, bare-domain regex, and a never-drop fallback bucket, after Module 22's Chrome extension was removed by explicit user decision (window-title tracking is the sole, permanent source of website data).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450">
                <a:solidFill>
                  <a:srgbClr val="F5F7FA"/>
                </a:solidFill>
                <a:latin typeface="Segoe UI"/>
              </a:rPr>
              <a:t>Lead research (Google/LinkedIn scraping) is verified blocked by their own anti-bot systems — the code is real and honestly returns 0 leads today rather than faking success; dedup and storage are fully verified independently.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450">
                <a:solidFill>
                  <a:srgbClr val="F5F7FA"/>
                </a:solidFill>
                <a:latin typeface="Segoe UI"/>
              </a:rPr>
              <a:t>LangGraph Master Agent is a real StateGraph, verified via full-cycle runs — not a mocked orchestration layer.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DD4BF"/>
                </a:solidFill>
                <a:latin typeface="Segoe UI"/>
              </a:rPr>
              <a:t>›  </a:t>
            </a:r>
            <a:r>
              <a:rPr sz="1450">
                <a:solidFill>
                  <a:srgbClr val="F5F7FA"/>
                </a:solidFill>
                <a:latin typeface="Segoe UI"/>
              </a:rPr>
              <a:t>The packaged .exe is launch-verified: confirmed to start, stay resident in the tray, and reach the first-run dialog without crashing.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Deferred by decision, not by accident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9B4C9"/>
                </a:solidFill>
                <a:latin typeface="Segoe UI"/>
              </a:rPr>
              <a:t>WorkPulse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Postgres migration and true multi-agent cloud sync — deliberately deferred; current SQLite-file model is local-first by design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LinkedIn posting needs LINKEDIN_EMAIL/PASSWORD and FastSD CPU running locally to actually post — posting itself not yet verified against a real LinkedIn login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Gmail delivery needs GMAIL_ADDRESS/GMAIL_APP_PASSWORD configured in .env to actually send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2DD4BF"/>
                </a:solidFill>
                <a:latin typeface="Segoe UI"/>
              </a:rPr>
              <a:t>›  </a:t>
            </a:r>
            <a:r>
              <a:rPr sz="1500">
                <a:solidFill>
                  <a:srgbClr val="F5F7FA"/>
                </a:solidFill>
                <a:latin typeface="Segoe UI"/>
              </a:rPr>
              <a:t>Lead research remains blocked by Google/LinkedIn anti-bot systems (reCAPTCHA / authwall) — revisit if a compliant data source becomes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111D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Cloud deploy configs (Railway for the API, Vercel for the dashboard) are done and documented,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with optional MinIO screenshot storage verified against a real client — the remaining work is scaling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9B4C9"/>
                </a:solidFill>
                <a:latin typeface="Segoe UI"/>
              </a:rPr>
              <a:t>the data layer, not standing up the deploy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5F7FA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DD4BF"/>
                </a:solidFill>
                <a:latin typeface="Segoe UI"/>
              </a:rPr>
              <a:t>WorkPulse AI —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9B4C9"/>
                </a:solidFill>
                <a:latin typeface="Segoe UI"/>
              </a:rPr>
              <a:t>A full-stack, agentic AI work-intelligence platform — built end-to-end,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9B4C9"/>
                </a:solidFill>
                <a:latin typeface="Segoe UI"/>
              </a:rPr>
              <a:t>verified live, with zero paid cloud AI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